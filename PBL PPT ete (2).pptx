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8" r:id="rId2"/>
    <p:sldId id="269" r:id="rId3"/>
    <p:sldId id="257" r:id="rId4"/>
    <p:sldId id="259" r:id="rId5"/>
    <p:sldId id="261" r:id="rId6"/>
    <p:sldId id="263" r:id="rId7"/>
    <p:sldId id="262" r:id="rId8"/>
    <p:sldId id="270" r:id="rId9"/>
    <p:sldId id="271" r:id="rId10"/>
    <p:sldId id="272" r:id="rId11"/>
    <p:sldId id="274" r:id="rId12"/>
    <p:sldId id="265" r:id="rId13"/>
    <p:sldId id="273" r:id="rId14"/>
    <p:sldId id="266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0375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972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314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408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087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34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8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450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42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14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239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99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9267" y="2574365"/>
            <a:ext cx="6858000" cy="733646"/>
          </a:xfrm>
        </p:spPr>
        <p:txBody>
          <a:bodyPr>
            <a:normAutofit fontScale="90000"/>
          </a:bodyPr>
          <a:lstStyle/>
          <a:p>
            <a:pPr hangingPunct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aware VM consolidation : 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comparative study in Cloud Computing”</a:t>
            </a:r>
            <a:br>
              <a:rPr lang="en-IN" dirty="0"/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5906402" y="4367168"/>
            <a:ext cx="2429540" cy="91705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61635"/>
            <a:ext cx="3130529" cy="917059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976324" y="1284308"/>
            <a:ext cx="6858000" cy="834207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2857500" algn="l"/>
              </a:tabLst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 and Engineering</a:t>
            </a:r>
          </a:p>
          <a:p>
            <a:pPr>
              <a:lnSpc>
                <a:spcPct val="150000"/>
              </a:lnSpc>
              <a:tabLst>
                <a:tab pos="2857500" algn="l"/>
              </a:tabLst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51B54B-DF9F-DDF1-458E-E93D7D18686B}"/>
              </a:ext>
            </a:extLst>
          </p:cNvPr>
          <p:cNvSpPr txBox="1"/>
          <p:nvPr/>
        </p:nvSpPr>
        <p:spPr>
          <a:xfrm>
            <a:off x="5715001" y="4279949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MANMOHAN SHARMA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F45A8C-2364-FF4A-D232-B54478D602E4}"/>
              </a:ext>
            </a:extLst>
          </p:cNvPr>
          <p:cNvSpPr txBox="1"/>
          <p:nvPr/>
        </p:nvSpPr>
        <p:spPr>
          <a:xfrm>
            <a:off x="618067" y="4209183"/>
            <a:ext cx="37422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 :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JAY PRATAP SINGH TOMAR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2427030179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FC58E-E15A-985A-C5A1-8134FB40E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94369-5CC7-898B-0406-81C5F5F47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491" y="2015733"/>
            <a:ext cx="6571343" cy="3834734"/>
          </a:xfrm>
        </p:spPr>
        <p:txBody>
          <a:bodyPr>
            <a:normAutofit lnSpcReduction="10000"/>
          </a:bodyPr>
          <a:lstStyle/>
          <a:p>
            <a:r>
              <a:rPr lang="en-IN" dirty="0"/>
              <a:t>Introduction</a:t>
            </a:r>
          </a:p>
          <a:p>
            <a:r>
              <a:rPr lang="en-IN" dirty="0"/>
              <a:t>Literature Review</a:t>
            </a:r>
          </a:p>
          <a:p>
            <a:r>
              <a:rPr lang="en-IN" dirty="0"/>
              <a:t>Problem Statement</a:t>
            </a:r>
          </a:p>
          <a:p>
            <a:r>
              <a:rPr lang="en-IN" dirty="0"/>
              <a:t>Objectives </a:t>
            </a:r>
          </a:p>
          <a:p>
            <a:r>
              <a:rPr lang="en-IN" dirty="0"/>
              <a:t>System Workflow</a:t>
            </a:r>
          </a:p>
          <a:p>
            <a:r>
              <a:rPr lang="en-IN" dirty="0"/>
              <a:t>Result</a:t>
            </a:r>
          </a:p>
          <a:p>
            <a:r>
              <a:rPr lang="en-IN" dirty="0"/>
              <a:t>Outcome</a:t>
            </a:r>
          </a:p>
          <a:p>
            <a:r>
              <a:rPr lang="en-IN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79709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Cloud computing provides scalable access to computational resources.</a:t>
            </a:r>
          </a:p>
          <a:p>
            <a:r>
              <a:rPr lang="en-IN" dirty="0"/>
              <a:t>Rising workload demand has increased energy usage in data centres .</a:t>
            </a:r>
          </a:p>
          <a:p>
            <a:r>
              <a:rPr lang="en-IN" dirty="0"/>
              <a:t>VM consolidation shuts down idle hosts to reduce power consumption.</a:t>
            </a:r>
          </a:p>
          <a:p>
            <a:r>
              <a:rPr lang="en-IN" dirty="0"/>
              <a:t>Challenge: conserve energy without performance degradation.</a:t>
            </a:r>
          </a:p>
          <a:p>
            <a:r>
              <a:rPr lang="en-IN" dirty="0"/>
              <a:t>We implement and compare multiple VM allocation strategies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Classical methods: Best Fit, First Fit, MBFD, PABFD.</a:t>
            </a:r>
          </a:p>
          <a:p>
            <a:r>
              <a:rPr lang="en-IN" dirty="0"/>
              <a:t>Heuristic extensions improve energy efficiency using scoring models.</a:t>
            </a:r>
          </a:p>
          <a:p>
            <a:r>
              <a:rPr lang="en-IN" dirty="0"/>
              <a:t>Meta-heuristics like GA, PSO, ILP optimize placement at higher cost.</a:t>
            </a:r>
          </a:p>
          <a:p>
            <a:r>
              <a:rPr lang="en-IN" dirty="0"/>
              <a:t>MBFD and PABFD effective for static workloads but fail under spikes.</a:t>
            </a:r>
          </a:p>
          <a:p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Cloud data centres face rising energy consumption and operational cost.</a:t>
            </a:r>
          </a:p>
          <a:p>
            <a:r>
              <a:rPr lang="en-IN" dirty="0"/>
              <a:t>Inefficient VM placement triggers host overload and SLA violations.</a:t>
            </a:r>
          </a:p>
          <a:p>
            <a:r>
              <a:rPr lang="en-IN" dirty="0"/>
              <a:t>Existing techniques lack adaptability to dynamic workloads.</a:t>
            </a:r>
          </a:p>
          <a:p>
            <a:r>
              <a:rPr lang="en-IN" dirty="0"/>
              <a:t>A balanced, scalable and efficient VM consolidation strategy is required.</a:t>
            </a:r>
          </a:p>
          <a:p>
            <a:r>
              <a:rPr lang="en-IN" dirty="0"/>
              <a:t>EEVMC aims to minimize energy loss while maintaining stable performance.</a:t>
            </a:r>
          </a:p>
          <a:p>
            <a:r>
              <a:rPr lang="en-US" dirty="0"/>
              <a:t>Existing approaches lack practical comparison under identical conditions</a:t>
            </a:r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Minimize overall energy consumption across cloud hosts.</a:t>
            </a:r>
          </a:p>
          <a:p>
            <a:r>
              <a:rPr lang="en-IN" dirty="0"/>
              <a:t>Reduce SLA violations occurring due to overutilization.</a:t>
            </a:r>
          </a:p>
          <a:p>
            <a:r>
              <a:rPr lang="en-IN" dirty="0"/>
              <a:t>Enhance average host utilization through balanced workload placement.</a:t>
            </a:r>
          </a:p>
          <a:p>
            <a:r>
              <a:rPr lang="en-US" dirty="0"/>
              <a:t>Compare First Fit, Best Fit and Energy-Aware algorithms</a:t>
            </a:r>
          </a:p>
          <a:p>
            <a:r>
              <a:rPr lang="en-US" dirty="0"/>
              <a:t>Evaluate host utilization and number of active hosts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workflow</a:t>
            </a:r>
            <a:br>
              <a:rPr lang="en-IN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Input: List of Virtual Machines (CPU requirements)</a:t>
            </a:r>
          </a:p>
          <a:p>
            <a:r>
              <a:rPr lang="en-US" dirty="0"/>
              <a:t>Initialize Hosts with fixed CPU capacity</a:t>
            </a:r>
          </a:p>
          <a:p>
            <a:r>
              <a:rPr lang="en-IN" dirty="0"/>
              <a:t>Apply VM Allocation Algorithm</a:t>
            </a:r>
          </a:p>
          <a:p>
            <a:r>
              <a:rPr lang="en-IN" dirty="0"/>
              <a:t>Update host utilization dynamically</a:t>
            </a:r>
          </a:p>
          <a:p>
            <a:r>
              <a:rPr lang="en-IN" dirty="0"/>
              <a:t>Evaluate system performance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All algorithms are tested under identical conditions for fair comparison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D6D98-3EE4-5136-80A7-E34C3C24D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Algorithms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8DBE4-36FD-891D-483C-9F7139F20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First Fit (FF)</a:t>
            </a:r>
            <a:br>
              <a:rPr lang="en-US" dirty="0"/>
            </a:br>
            <a:r>
              <a:rPr lang="en-US" dirty="0"/>
              <a:t>Allocates VM to first host with sufficient </a:t>
            </a:r>
            <a:r>
              <a:rPr lang="en-US" dirty="0" err="1"/>
              <a:t>capacityIdentify</a:t>
            </a:r>
            <a:r>
              <a:rPr lang="en-US" dirty="0"/>
              <a:t> underutilized and overutilized hosts</a:t>
            </a:r>
          </a:p>
          <a:p>
            <a:r>
              <a:rPr lang="en-US" b="1" dirty="0"/>
              <a:t>Best Fit (BF)</a:t>
            </a:r>
            <a:br>
              <a:rPr lang="en-US" dirty="0"/>
            </a:br>
            <a:r>
              <a:rPr lang="en-US" dirty="0"/>
              <a:t>Allocates VM to host with minimum remaining space</a:t>
            </a:r>
          </a:p>
          <a:p>
            <a:r>
              <a:rPr lang="en-US" b="1" dirty="0"/>
              <a:t>Energy-Aware Algorithm</a:t>
            </a:r>
            <a:br>
              <a:rPr lang="en-US" dirty="0"/>
            </a:br>
            <a:r>
              <a:rPr lang="en-US" dirty="0"/>
              <a:t>Selects host with highest utilization after allocation</a:t>
            </a:r>
          </a:p>
          <a:p>
            <a:pPr marL="0" indent="0">
              <a:buNone/>
            </a:pPr>
            <a:r>
              <a:rPr lang="en-US" dirty="0"/>
              <a:t>“Each algorithm represents different optimization levels”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7521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C72F5-A4F5-C8DE-42C6-65BE64091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VM Allocation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7EFF5-3D28-6EB9-DE7D-17979DAE9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Iterate through each VM</a:t>
            </a:r>
          </a:p>
          <a:p>
            <a:r>
              <a:rPr lang="en-US" dirty="0"/>
              <a:t>Check available hosts for capacity</a:t>
            </a:r>
          </a:p>
          <a:p>
            <a:r>
              <a:rPr lang="en-US" dirty="0"/>
              <a:t>Allocate VM based on algorithm rule</a:t>
            </a:r>
          </a:p>
          <a:p>
            <a:r>
              <a:rPr lang="en-IN" dirty="0"/>
              <a:t>Update host utilization</a:t>
            </a:r>
          </a:p>
          <a:p>
            <a:r>
              <a:rPr lang="en-US" dirty="0"/>
              <a:t>If no host fits → create new host</a:t>
            </a:r>
          </a:p>
          <a:p>
            <a:pPr marL="0" indent="0">
              <a:buNone/>
            </a:pPr>
            <a:r>
              <a:rPr lang="en-US" dirty="0"/>
              <a:t>“Simulates real-world dynamic cloud resource allocation”</a:t>
            </a:r>
          </a:p>
        </p:txBody>
      </p:sp>
    </p:spTree>
    <p:extLst>
      <p:ext uri="{BB962C8B-B14F-4D97-AF65-F5344CB8AC3E}">
        <p14:creationId xmlns:p14="http://schemas.microsoft.com/office/powerpoint/2010/main" val="1511409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52562-E102-F024-4278-59167653D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BE773-5BE0-50BE-E25D-07B0FE9A5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VM Input Module → defines workload</a:t>
            </a:r>
          </a:p>
          <a:p>
            <a:r>
              <a:rPr lang="en-US" dirty="0"/>
              <a:t>Host Management Module → tracks capacity &amp; usage</a:t>
            </a:r>
          </a:p>
          <a:p>
            <a:r>
              <a:rPr lang="en-IN" dirty="0"/>
              <a:t>Allocation Engine → applies algorithm logic</a:t>
            </a:r>
          </a:p>
          <a:p>
            <a:r>
              <a:rPr lang="en-IN" dirty="0"/>
              <a:t>Evaluation Module → computes performance metrics</a:t>
            </a:r>
          </a:p>
        </p:txBody>
      </p:sp>
    </p:spTree>
    <p:extLst>
      <p:ext uri="{BB962C8B-B14F-4D97-AF65-F5344CB8AC3E}">
        <p14:creationId xmlns:p14="http://schemas.microsoft.com/office/powerpoint/2010/main" val="1378775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91E71-CC76-83EA-703C-924E246DC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EBC4B-6DE5-56AE-8C8E-CED080D19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Number of active hosts used</a:t>
            </a:r>
          </a:p>
          <a:p>
            <a:r>
              <a:rPr lang="en-IN" dirty="0"/>
              <a:t>Average CPU utilization</a:t>
            </a:r>
          </a:p>
          <a:p>
            <a:r>
              <a:rPr lang="en-IN" dirty="0"/>
              <a:t>Allocation efficiency</a:t>
            </a:r>
          </a:p>
          <a:p>
            <a:r>
              <a:rPr lang="en-IN" dirty="0"/>
              <a:t>Resource utilization balance</a:t>
            </a:r>
          </a:p>
          <a:p>
            <a:pPr marL="0" indent="0">
              <a:buNone/>
            </a:pPr>
            <a:r>
              <a:rPr lang="en-US" dirty="0"/>
              <a:t>Used to compare all algorithms objectively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0062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and comparisons</a:t>
            </a:r>
            <a:endParaRPr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D563621-792D-1884-7A14-DC54889CFA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1257674"/>
              </p:ext>
            </p:extLst>
          </p:nvPr>
        </p:nvGraphicFramePr>
        <p:xfrm>
          <a:off x="1442584" y="1947908"/>
          <a:ext cx="6572250" cy="12815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750">
                  <a:extLst>
                    <a:ext uri="{9D8B030D-6E8A-4147-A177-3AD203B41FA5}">
                      <a16:colId xmlns:a16="http://schemas.microsoft.com/office/drawing/2014/main" val="2492030804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414547389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15939370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Hosts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Efficiency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4648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First 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2259337"/>
                  </a:ext>
                </a:extLst>
              </a:tr>
              <a:tr h="316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Best 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960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Energy-Aware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0438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A19AD-1E5A-46D4-A9EE-2C7B0DB34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8CF17-C08F-4991-5953-21BA32367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Developed a Python-based VM allocation simulation system</a:t>
            </a:r>
          </a:p>
          <a:p>
            <a:r>
              <a:rPr lang="en-US" dirty="0"/>
              <a:t>Implemented First Fit, Best Fit, and Energy-Aware algorithms</a:t>
            </a:r>
          </a:p>
          <a:p>
            <a:r>
              <a:rPr lang="en-US" dirty="0"/>
              <a:t>Created a comparative evaluation framework</a:t>
            </a:r>
          </a:p>
          <a:p>
            <a:r>
              <a:rPr lang="en-US" dirty="0"/>
              <a:t>Identified Energy-Aware approach as most efficient.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4036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Rehman et al. (2024): EEVMC energy-efficient consolidation model.</a:t>
            </a:r>
          </a:p>
          <a:p>
            <a:r>
              <a:rPr lang="en-IN" dirty="0"/>
              <a:t>Moges &amp; Abebe (2019): Energy-aware VM placement algorithms.</a:t>
            </a:r>
          </a:p>
          <a:p>
            <a:r>
              <a:rPr lang="en-IN" dirty="0" err="1"/>
              <a:t>Medara</a:t>
            </a:r>
            <a:r>
              <a:rPr lang="en-IN" dirty="0"/>
              <a:t> (2023): Dynamic VM Consolidation techniques.</a:t>
            </a:r>
          </a:p>
          <a:p>
            <a:r>
              <a:rPr lang="en-IN" dirty="0"/>
              <a:t>Beloglazov &amp; </a:t>
            </a:r>
            <a:r>
              <a:rPr lang="en-IN" dirty="0" err="1"/>
              <a:t>Buyya</a:t>
            </a:r>
            <a:r>
              <a:rPr lang="en-IN" dirty="0"/>
              <a:t> (2011–2012): Power-aware cloud data </a:t>
            </a:r>
            <a:r>
              <a:rPr lang="en-IN" dirty="0" err="1"/>
              <a:t>center</a:t>
            </a:r>
            <a:r>
              <a:rPr lang="en-IN" dirty="0"/>
              <a:t> optimization.</a:t>
            </a:r>
          </a:p>
          <a:p>
            <a:r>
              <a:rPr lang="en-IN" dirty="0"/>
              <a:t>Arshad et al. (2022): SLA reduction through dynamic consolidation.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End of Presentation.</a:t>
            </a:r>
          </a:p>
          <a:p>
            <a:r>
              <a:rPr lang="en-US" dirty="0"/>
              <a:t>Open for evaluation and discussion.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814</TotalTime>
  <Words>556</Words>
  <Application>Microsoft Office PowerPoint</Application>
  <PresentationFormat>On-screen Show (4:3)</PresentationFormat>
  <Paragraphs>98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Gill Sans MT</vt:lpstr>
      <vt:lpstr>Times New Roman</vt:lpstr>
      <vt:lpstr>Gallery</vt:lpstr>
      <vt:lpstr>Energy aware VM consolidation :  A comparative study in Cloud Computing” </vt:lpstr>
      <vt:lpstr>Outline </vt:lpstr>
      <vt:lpstr>Introduction</vt:lpstr>
      <vt:lpstr>Literature Review (1)</vt:lpstr>
      <vt:lpstr>Problem Statement</vt:lpstr>
      <vt:lpstr>Objectives</vt:lpstr>
      <vt:lpstr>System workflow </vt:lpstr>
      <vt:lpstr>Algorithms Implemented</vt:lpstr>
      <vt:lpstr>VM Allocation Logic</vt:lpstr>
      <vt:lpstr>System Architecture</vt:lpstr>
      <vt:lpstr>Evaluation Metrics</vt:lpstr>
      <vt:lpstr>Result and comparisons</vt:lpstr>
      <vt:lpstr>Project Outcome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Jay Pratap Singh Tomar</dc:creator>
  <cp:keywords/>
  <dc:description>generated using python-pptx</dc:description>
  <cp:lastModifiedBy>Jay Pratap Singh Tomar [CSE - 2024]</cp:lastModifiedBy>
  <cp:revision>11</cp:revision>
  <dcterms:created xsi:type="dcterms:W3CDTF">2013-01-27T09:14:16Z</dcterms:created>
  <dcterms:modified xsi:type="dcterms:W3CDTF">2026-04-13T03:53:24Z</dcterms:modified>
  <cp:category/>
</cp:coreProperties>
</file>