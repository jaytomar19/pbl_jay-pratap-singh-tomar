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8" r:id="rId2"/>
    <p:sldId id="269" r:id="rId3"/>
    <p:sldId id="257" r:id="rId4"/>
    <p:sldId id="259" r:id="rId5"/>
    <p:sldId id="260" r:id="rId6"/>
    <p:sldId id="261" r:id="rId7"/>
    <p:sldId id="263" r:id="rId8"/>
    <p:sldId id="262" r:id="rId9"/>
    <p:sldId id="270" r:id="rId10"/>
    <p:sldId id="271" r:id="rId11"/>
    <p:sldId id="272" r:id="rId12"/>
    <p:sldId id="274" r:id="rId13"/>
    <p:sldId id="265" r:id="rId14"/>
    <p:sldId id="273" r:id="rId15"/>
    <p:sldId id="266" r:id="rId16"/>
    <p:sldId id="267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23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6319" y="802299"/>
            <a:ext cx="5618515" cy="2541431"/>
          </a:xfrm>
        </p:spPr>
        <p:txBody>
          <a:bodyPr bIns="0"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6319" y="3531205"/>
            <a:ext cx="5618515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96319" y="329308"/>
            <a:ext cx="3086292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4703" y="798973"/>
            <a:ext cx="802005" cy="50357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396319" y="3528542"/>
            <a:ext cx="561851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0375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2972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1756130"/>
            <a:ext cx="5617002" cy="188795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2" y="3806196"/>
            <a:ext cx="5617002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43491" y="3804985"/>
            <a:ext cx="561700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23140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890"/>
            <a:ext cx="6571343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3490" y="2013936"/>
            <a:ext cx="3125871" cy="3437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9182" y="2013936"/>
            <a:ext cx="3125652" cy="3437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408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164"/>
            <a:ext cx="6571344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9550"/>
            <a:ext cx="3125766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3491" y="2824270"/>
            <a:ext cx="3125766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9182" y="2023004"/>
            <a:ext cx="31256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89182" y="2821491"/>
            <a:ext cx="31256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087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34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881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9042" y="798973"/>
            <a:ext cx="2425950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6656" y="798974"/>
            <a:ext cx="3828178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9042" y="3205492"/>
            <a:ext cx="2427369" cy="2248181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1748" y="3205491"/>
            <a:ext cx="2423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450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4996501" y="482171"/>
            <a:ext cx="3511387" cy="5149101"/>
            <a:chOff x="6852919" y="583365"/>
            <a:chExt cx="4681849" cy="5181928"/>
          </a:xfrm>
        </p:grpSpPr>
        <p:sp>
          <p:nvSpPr>
            <p:cNvPr id="14" name="Rectangle 13"/>
            <p:cNvSpPr/>
            <p:nvPr/>
          </p:nvSpPr>
          <p:spPr>
            <a:xfrm>
              <a:off x="6852919" y="583365"/>
              <a:ext cx="4681849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Rectangle 14"/>
            <p:cNvSpPr/>
            <p:nvPr/>
          </p:nvSpPr>
          <p:spPr>
            <a:xfrm>
              <a:off x="7273787" y="915806"/>
              <a:ext cx="3844017" cy="4507918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148" y="1129513"/>
            <a:ext cx="3244935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40128" y="1122543"/>
            <a:ext cx="2234998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3492" y="3145992"/>
            <a:ext cx="3240286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36664" y="5469857"/>
            <a:ext cx="3252420" cy="320123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37530" y="318641"/>
            <a:ext cx="3251553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1281" y="3143605"/>
            <a:ext cx="324201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426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14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18028" y="798974"/>
            <a:ext cx="1103027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3491" y="798974"/>
            <a:ext cx="5301095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6918028" y="798974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6239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015734"/>
            <a:ext cx="9144000" cy="407952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1538" r="12500" b="-1538"/>
          <a:stretch/>
        </p:blipFill>
        <p:spPr>
          <a:xfrm>
            <a:off x="-1" y="6095253"/>
            <a:ext cx="9144001" cy="774727"/>
          </a:xfrm>
          <a:prstGeom prst="rect">
            <a:avLst/>
          </a:prstGeom>
        </p:spPr>
      </p:pic>
      <p:cxnSp>
        <p:nvCxnSpPr>
          <p:cNvPr id="13" name="Straight Connector 12"/>
          <p:cNvCxnSpPr/>
          <p:nvPr/>
        </p:nvCxnSpPr>
        <p:spPr>
          <a:xfrm>
            <a:off x="0" y="6101127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3491" y="804520"/>
            <a:ext cx="6571343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5733"/>
            <a:ext cx="6571343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46542" y="330370"/>
            <a:ext cx="2368292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43491" y="329308"/>
            <a:ext cx="403400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7725" y="798973"/>
            <a:ext cx="795746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499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6858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m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tmp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B14B-13FD-63D0-B558-FA2B9FA1B8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9267" y="2574365"/>
            <a:ext cx="6858000" cy="733646"/>
          </a:xfrm>
        </p:spPr>
        <p:txBody>
          <a:bodyPr>
            <a:no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EEVMC: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Energy Efficient Virtual Machine Consolidation Approach for Cloud Data Centers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265C3A1-7DE8-FF2B-D7D7-6CB2859C63C2}"/>
              </a:ext>
            </a:extLst>
          </p:cNvPr>
          <p:cNvSpPr txBox="1">
            <a:spLocks/>
          </p:cNvSpPr>
          <p:nvPr/>
        </p:nvSpPr>
        <p:spPr>
          <a:xfrm>
            <a:off x="5906402" y="4367168"/>
            <a:ext cx="2429540" cy="91705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7" descr="A black and white text&#10;&#10;AI-generated content may be incorrect.">
            <a:extLst>
              <a:ext uri="{FF2B5EF4-FFF2-40B4-BE49-F238E27FC236}">
                <a16:creationId xmlns:a16="http://schemas.microsoft.com/office/drawing/2014/main" id="{2AD7126F-2B55-B457-37C9-C05FFDD4D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461635"/>
            <a:ext cx="3130529" cy="91705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8466A34-BD34-5DB1-EC2B-14EE0BD5593C}"/>
              </a:ext>
            </a:extLst>
          </p:cNvPr>
          <p:cNvSpPr txBox="1">
            <a:spLocks/>
          </p:cNvSpPr>
          <p:nvPr/>
        </p:nvSpPr>
        <p:spPr>
          <a:xfrm>
            <a:off x="976324" y="1284308"/>
            <a:ext cx="6858000" cy="834207"/>
          </a:xfrm>
          <a:prstGeom prst="rect">
            <a:avLst/>
          </a:prstGeom>
        </p:spPr>
        <p:txBody>
          <a:bodyPr vert="horz" lIns="68580" tIns="34290" rIns="68580" bIns="3429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2857500" algn="l"/>
              </a:tabLst>
            </a:pPr>
            <a:r>
              <a:rPr lang="en-IN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School of Computer Science and Engineering</a:t>
            </a:r>
          </a:p>
          <a:p>
            <a:pPr>
              <a:lnSpc>
                <a:spcPct val="150000"/>
              </a:lnSpc>
              <a:tabLst>
                <a:tab pos="2857500" algn="l"/>
              </a:tabLst>
            </a:pPr>
            <a:r>
              <a:rPr lang="en-IN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51B54B-DF9F-DDF1-458E-E93D7D18686B}"/>
              </a:ext>
            </a:extLst>
          </p:cNvPr>
          <p:cNvSpPr txBox="1"/>
          <p:nvPr/>
        </p:nvSpPr>
        <p:spPr>
          <a:xfrm>
            <a:off x="5715001" y="4279949"/>
            <a:ext cx="274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BY: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MANMOHAN SHARMA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F45A8C-2364-FF4A-D232-B54478D602E4}"/>
              </a:ext>
            </a:extLst>
          </p:cNvPr>
          <p:cNvSpPr txBox="1"/>
          <p:nvPr/>
        </p:nvSpPr>
        <p:spPr>
          <a:xfrm>
            <a:off x="618067" y="4209183"/>
            <a:ext cx="37422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BY : 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JAY PRATAP SINGH TOMAR 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2427030179</a:t>
            </a:r>
          </a:p>
        </p:txBody>
      </p:sp>
    </p:spTree>
    <p:extLst>
      <p:ext uri="{BB962C8B-B14F-4D97-AF65-F5344CB8AC3E}">
        <p14:creationId xmlns:p14="http://schemas.microsoft.com/office/powerpoint/2010/main" val="380237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FC58E-E15A-985A-C5A1-8134FB40E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Outline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94369-5CC7-898B-0406-81C5F5F474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3491" y="2015733"/>
            <a:ext cx="6571343" cy="3834734"/>
          </a:xfrm>
        </p:spPr>
        <p:txBody>
          <a:bodyPr>
            <a:normAutofit lnSpcReduction="10000"/>
          </a:bodyPr>
          <a:lstStyle/>
          <a:p>
            <a:r>
              <a:rPr lang="en-IN" dirty="0"/>
              <a:t>Introduction</a:t>
            </a:r>
          </a:p>
          <a:p>
            <a:r>
              <a:rPr lang="en-IN" dirty="0"/>
              <a:t>Literature Review</a:t>
            </a:r>
          </a:p>
          <a:p>
            <a:r>
              <a:rPr lang="en-IN" dirty="0"/>
              <a:t>Problem Statement</a:t>
            </a:r>
          </a:p>
          <a:p>
            <a:r>
              <a:rPr lang="en-IN" dirty="0"/>
              <a:t>Objectives </a:t>
            </a:r>
          </a:p>
          <a:p>
            <a:r>
              <a:rPr lang="en-IN" dirty="0"/>
              <a:t>Proposed Methodology</a:t>
            </a:r>
          </a:p>
          <a:p>
            <a:r>
              <a:rPr lang="en-IN" dirty="0"/>
              <a:t>Result</a:t>
            </a:r>
          </a:p>
          <a:p>
            <a:r>
              <a:rPr lang="en-IN" dirty="0"/>
              <a:t>Outcome</a:t>
            </a:r>
          </a:p>
          <a:p>
            <a:r>
              <a:rPr lang="en-IN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797098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Cloud computing provides scalable access to computational resources.</a:t>
            </a:r>
          </a:p>
          <a:p>
            <a:r>
              <a:rPr lang="en-IN" dirty="0"/>
              <a:t>Rising workload demand has increased energy usage in data centres .</a:t>
            </a:r>
          </a:p>
          <a:p>
            <a:r>
              <a:rPr lang="en-IN" dirty="0"/>
              <a:t>VM consolidation shuts down idle hosts to reduce power consumption.</a:t>
            </a:r>
          </a:p>
          <a:p>
            <a:r>
              <a:rPr lang="en-IN" dirty="0"/>
              <a:t>Challenge: conserve energy without performance degradation.</a:t>
            </a:r>
          </a:p>
          <a:p>
            <a:r>
              <a:rPr lang="en-IN" dirty="0"/>
              <a:t>EEVMC attempts to solve this with an intelligent placement framework.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Review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VM consolidation classified as NP-hard due to combinatorial placement complexity.</a:t>
            </a:r>
          </a:p>
          <a:p>
            <a:r>
              <a:rPr lang="en-IN" dirty="0"/>
              <a:t>Classical methods: Best Fit, First Fit, MBFD, PABFD.</a:t>
            </a:r>
          </a:p>
          <a:p>
            <a:r>
              <a:rPr lang="en-IN" dirty="0"/>
              <a:t>Heuristic extensions improve energy efficiency using scoring models.</a:t>
            </a:r>
          </a:p>
          <a:p>
            <a:r>
              <a:rPr lang="en-IN" dirty="0"/>
              <a:t>Meta-heuristics like GA, PSO, ILP optimize placement at higher cost.</a:t>
            </a:r>
          </a:p>
          <a:p>
            <a:r>
              <a:rPr lang="en-IN" dirty="0"/>
              <a:t>ML-based models predict workload fluctuations for better decisions.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Review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MBFD and PABFD effective for static workloads but fail under spikes.</a:t>
            </a:r>
          </a:p>
          <a:p>
            <a:r>
              <a:rPr lang="en-IN" dirty="0"/>
              <a:t>PEFFD and MFPED introduce host-efficiency scoring for improved balance.</a:t>
            </a:r>
          </a:p>
          <a:p>
            <a:r>
              <a:rPr lang="en-IN" dirty="0"/>
              <a:t>Deep learning models help forecast CPU demand and avoid overload.</a:t>
            </a:r>
          </a:p>
          <a:p>
            <a:r>
              <a:rPr lang="en-IN" dirty="0"/>
              <a:t>Reinforcement learning frameworks learn optimal placements over time.</a:t>
            </a:r>
          </a:p>
          <a:p>
            <a:r>
              <a:rPr lang="en-IN" dirty="0"/>
              <a:t>Despite progress, computational complexity remains a barrier.</a:t>
            </a:r>
          </a:p>
          <a:p>
            <a:endParaRPr lang="en-IN" dirty="0"/>
          </a:p>
          <a:p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Cloud data centres face rising energy consumption and operational cost.</a:t>
            </a:r>
          </a:p>
          <a:p>
            <a:r>
              <a:rPr lang="en-IN" dirty="0"/>
              <a:t>Inefficient VM placement triggers host overload and SLA violations.</a:t>
            </a:r>
          </a:p>
          <a:p>
            <a:r>
              <a:rPr lang="en-IN" dirty="0"/>
              <a:t>Existing techniques lack adaptability to dynamic workloads.</a:t>
            </a:r>
          </a:p>
          <a:p>
            <a:r>
              <a:rPr lang="en-IN" dirty="0"/>
              <a:t>A balanced, scalable and efficient VM consolidation strategy is required.</a:t>
            </a:r>
          </a:p>
          <a:p>
            <a:r>
              <a:rPr lang="en-IN" dirty="0"/>
              <a:t>EEVMC aims to minimize energy loss while maintaining stable performance.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Minimize overall energy consumption across cloud hosts.</a:t>
            </a:r>
          </a:p>
          <a:p>
            <a:r>
              <a:rPr lang="en-IN" dirty="0"/>
              <a:t>Reduce SLA violations occurring due to overutilization.</a:t>
            </a:r>
          </a:p>
          <a:p>
            <a:r>
              <a:rPr lang="en-IN" dirty="0"/>
              <a:t>Enhance average host utilization through balanced workload placement.</a:t>
            </a:r>
          </a:p>
          <a:p>
            <a:r>
              <a:rPr lang="en-IN" dirty="0"/>
              <a:t>Lower VM migration frequency to reduce network overhead.</a:t>
            </a:r>
          </a:p>
          <a:p>
            <a:r>
              <a:rPr lang="en-IN" dirty="0"/>
              <a:t>Develop a loss-based multi-factor evaluation strategy.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Proposed </a:t>
            </a:r>
            <a:r>
              <a:rPr lang="en-IN" dirty="0"/>
              <a:t>Methodology</a:t>
            </a:r>
            <a:br>
              <a:rPr lang="en-IN" dirty="0"/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Uses Loss-Aware Performance Efficient Decreasing (LAPED) approach.</a:t>
            </a:r>
          </a:p>
          <a:p>
            <a:r>
              <a:rPr lang="en-US" dirty="0"/>
              <a:t>Evaluates active and inactive hosts using a unified loss metric.</a:t>
            </a:r>
          </a:p>
          <a:p>
            <a:r>
              <a:rPr lang="en-US" dirty="0"/>
              <a:t>Loss metric includes CPU usage, power ratio, and activation cost.</a:t>
            </a:r>
          </a:p>
          <a:p>
            <a:r>
              <a:rPr lang="en-US" dirty="0"/>
              <a:t>Selects the host with minimum loss value for VM placement.</a:t>
            </a:r>
          </a:p>
          <a:p>
            <a:r>
              <a:rPr lang="en-US" dirty="0"/>
              <a:t>Reduces unnecessary migrations and improves SLA stability.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D6D98-3EE4-5136-80A7-E34C3C24D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Methodology</a:t>
            </a:r>
            <a:br>
              <a:rPr lang="en-IN" dirty="0"/>
            </a:br>
            <a:r>
              <a:rPr lang="en-IN" sz="2800" dirty="0"/>
              <a:t>step 1: host monitoring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8DBE4-36FD-891D-483C-9F7139F20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Monitor CPU utilization of all hosts</a:t>
            </a:r>
          </a:p>
          <a:p>
            <a:r>
              <a:rPr lang="en-US" dirty="0"/>
              <a:t>Identify underutilized and overutilized hosts</a:t>
            </a:r>
          </a:p>
          <a:p>
            <a:r>
              <a:rPr lang="en-US" dirty="0"/>
              <a:t>Analyze workload behavior</a:t>
            </a:r>
          </a:p>
          <a:p>
            <a:r>
              <a:rPr lang="en-US" dirty="0"/>
              <a:t>To improve resource allocation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7521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C72F5-A4F5-C8DE-42C6-65BE64091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sz="3600" dirty="0"/>
              <a:t>Proposed Methodology</a:t>
            </a:r>
            <a:br>
              <a:rPr lang="en-IN" dirty="0"/>
            </a:br>
            <a:r>
              <a:rPr lang="en-US" sz="3100" dirty="0"/>
              <a:t>Step 2: Loss-Aware Host Selection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7EFF5-3D28-6EB9-DE7D-17979DAE9F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Evaluate host energy efficiency</a:t>
            </a:r>
          </a:p>
          <a:p>
            <a:r>
              <a:rPr lang="en-IN" dirty="0"/>
              <a:t>Select optimal host for VM placement</a:t>
            </a:r>
          </a:p>
          <a:p>
            <a:r>
              <a:rPr lang="en-IN" dirty="0"/>
              <a:t>Minimize power consumption</a:t>
            </a:r>
          </a:p>
          <a:p>
            <a:r>
              <a:rPr lang="en-IN" dirty="0"/>
              <a:t>EEVMC introduces loss-aware host selection criteria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14096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52562-E102-F024-4278-59167653D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Methodology </a:t>
            </a:r>
            <a:br>
              <a:rPr lang="en-US" dirty="0"/>
            </a:br>
            <a:r>
              <a:rPr lang="en-US" sz="2800" dirty="0"/>
              <a:t>Step 3: VM Consolidation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BE773-5BE0-50BE-E25D-07B0FE9A5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Migrate VMs from inefficient hosts</a:t>
            </a:r>
          </a:p>
          <a:p>
            <a:r>
              <a:rPr lang="en-US" dirty="0"/>
              <a:t>Consolidate workloads efficiently</a:t>
            </a:r>
          </a:p>
          <a:p>
            <a:r>
              <a:rPr lang="en-US" dirty="0"/>
              <a:t>Shut down unused servers</a:t>
            </a:r>
          </a:p>
          <a:p>
            <a:pPr marL="0" indent="0">
              <a:buNone/>
            </a:pPr>
            <a:r>
              <a:rPr lang="en-US" dirty="0"/>
              <a:t>    Benefits:</a:t>
            </a:r>
          </a:p>
          <a:p>
            <a:r>
              <a:rPr lang="en-US" dirty="0"/>
              <a:t>Reduced energy consumption</a:t>
            </a:r>
          </a:p>
          <a:p>
            <a:r>
              <a:rPr lang="en-US" dirty="0"/>
              <a:t>Improved efficiency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8775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91E71-CC76-83EA-703C-924E246DC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dirty="0"/>
              <a:t>Proposed Methodology</a:t>
            </a:r>
            <a:br>
              <a:rPr lang="en-US" dirty="0"/>
            </a:br>
            <a:r>
              <a:rPr lang="en-US" sz="3100" dirty="0"/>
              <a:t>Step 4: Performance Optimization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EBC4B-6DE5-56AE-8C8E-CED080D19C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Reduced VM migrations</a:t>
            </a:r>
          </a:p>
          <a:p>
            <a:r>
              <a:rPr lang="en-US" dirty="0"/>
              <a:t>Reduced SLA violations</a:t>
            </a:r>
          </a:p>
          <a:p>
            <a:r>
              <a:rPr lang="en-US" dirty="0"/>
              <a:t>Improved system stability</a:t>
            </a:r>
          </a:p>
          <a:p>
            <a:r>
              <a:rPr lang="en-US" dirty="0"/>
              <a:t>Improved host utilization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00627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result</a:t>
            </a:r>
            <a:endParaRPr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E0914D-68E0-5351-8FBB-79D51507D5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80790" y="2035731"/>
            <a:ext cx="5696745" cy="17912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16B73A-6935-4F46-5CC7-4750F488D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104" y="4008909"/>
            <a:ext cx="2972058" cy="14555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521403-31C9-2E65-1E3F-F0745EA4E6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4118" y="4024150"/>
            <a:ext cx="2667231" cy="144030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A19AD-1E5A-46D4-A9EE-2C7B0DB34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8CF17-C08F-4991-5953-21BA32367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Successfully studied and </a:t>
            </a:r>
            <a:r>
              <a:rPr lang="en-IN" dirty="0" err="1"/>
              <a:t>analyzed</a:t>
            </a:r>
            <a:r>
              <a:rPr lang="en-IN" dirty="0"/>
              <a:t> the EEVMC (Energy Efficient Virtual Machine Consolidation) algorithm for cloud energy optimization</a:t>
            </a:r>
          </a:p>
          <a:p>
            <a:r>
              <a:rPr lang="en-IN" dirty="0" err="1"/>
              <a:t>PlanetLab</a:t>
            </a:r>
            <a:r>
              <a:rPr lang="en-IN" dirty="0"/>
              <a:t> workload dataset integrated to simulate real-world cloud CPU utilization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40362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Rehman et al. (2024): EEVMC energy-efficient consolidation model.</a:t>
            </a:r>
          </a:p>
          <a:p>
            <a:r>
              <a:rPr lang="en-IN" dirty="0"/>
              <a:t>Moges &amp; Abebe (2019): Energy-aware VM placement algorithms.</a:t>
            </a:r>
          </a:p>
          <a:p>
            <a:r>
              <a:rPr lang="en-IN" dirty="0" err="1"/>
              <a:t>Medara</a:t>
            </a:r>
            <a:r>
              <a:rPr lang="en-IN" dirty="0"/>
              <a:t> (2023): Dynamic VM Consolidation techniques.</a:t>
            </a:r>
          </a:p>
          <a:p>
            <a:r>
              <a:rPr lang="en-IN" dirty="0"/>
              <a:t>Beloglazov &amp; </a:t>
            </a:r>
            <a:r>
              <a:rPr lang="en-IN" dirty="0" err="1"/>
              <a:t>Buyya</a:t>
            </a:r>
            <a:r>
              <a:rPr lang="en-IN" dirty="0"/>
              <a:t> (2011–2012): Power-aware cloud data </a:t>
            </a:r>
            <a:r>
              <a:rPr lang="en-IN" dirty="0" err="1"/>
              <a:t>center</a:t>
            </a:r>
            <a:r>
              <a:rPr lang="en-IN" dirty="0"/>
              <a:t> optimization.</a:t>
            </a:r>
          </a:p>
          <a:p>
            <a:r>
              <a:rPr lang="en-IN" dirty="0"/>
              <a:t>Arshad et al. (2022): SLA reduction through dynamic consolidation.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End of Presentation.</a:t>
            </a:r>
          </a:p>
          <a:p>
            <a:r>
              <a:rPr lang="en-US" dirty="0"/>
              <a:t>Open for evaluation and discussion.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778</TotalTime>
  <Words>574</Words>
  <Application>Microsoft Office PowerPoint</Application>
  <PresentationFormat>On-screen Show (4:3)</PresentationFormat>
  <Paragraphs>88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Gill Sans MT</vt:lpstr>
      <vt:lpstr>Times New Roman</vt:lpstr>
      <vt:lpstr>Gallery</vt:lpstr>
      <vt:lpstr>EEVMC: An Energy Efficient Virtual Machine Consolidation Approach for Cloud Data Centers</vt:lpstr>
      <vt:lpstr>Outline </vt:lpstr>
      <vt:lpstr>Introduction</vt:lpstr>
      <vt:lpstr>Literature Review (1)</vt:lpstr>
      <vt:lpstr>Literature Review (2)</vt:lpstr>
      <vt:lpstr>Problem Statement</vt:lpstr>
      <vt:lpstr>Objectives</vt:lpstr>
      <vt:lpstr>Proposed Methodology </vt:lpstr>
      <vt:lpstr>Proposed Methodology step 1: host monitoring</vt:lpstr>
      <vt:lpstr>Proposed Methodology Step 2: Loss-Aware Host Selection</vt:lpstr>
      <vt:lpstr>Proposed Methodology  Step 3: VM Consolidation</vt:lpstr>
      <vt:lpstr>Proposed Methodology Step 4: Performance Optimization</vt:lpstr>
      <vt:lpstr>result</vt:lpstr>
      <vt:lpstr>outcome</vt:lpstr>
      <vt:lpstr>References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Jay Pratap Singh Tomar</dc:creator>
  <cp:keywords/>
  <dc:description>generated using python-pptx</dc:description>
  <cp:lastModifiedBy>Jay Pratap Singh Tomar [CSE - 2024]</cp:lastModifiedBy>
  <cp:revision>9</cp:revision>
  <dcterms:created xsi:type="dcterms:W3CDTF">2013-01-27T09:14:16Z</dcterms:created>
  <dcterms:modified xsi:type="dcterms:W3CDTF">2026-02-18T03:44:05Z</dcterms:modified>
  <cp:category/>
</cp:coreProperties>
</file>